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7" r:id="rId6"/>
    <p:sldId id="295" r:id="rId7"/>
    <p:sldId id="296" r:id="rId8"/>
    <p:sldId id="297" r:id="rId9"/>
    <p:sldId id="299" r:id="rId10"/>
    <p:sldId id="301" r:id="rId11"/>
    <p:sldId id="298" r:id="rId12"/>
    <p:sldId id="300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icalaid.com/linear-regression/#google_vignette" TargetMode="External"/><Relationship Id="rId2" Type="http://schemas.openxmlformats.org/officeDocument/2006/relationships/hyperlink" Target="https://mljourney.com/linear-regression-real-life-examples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esearchmate.net/linear-regression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1920240"/>
            <a:ext cx="4941771" cy="1122202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0" y="3042442"/>
            <a:ext cx="4941770" cy="396660"/>
          </a:xfrm>
        </p:spPr>
        <p:txBody>
          <a:bodyPr/>
          <a:lstStyle/>
          <a:p>
            <a:r>
              <a:rPr lang="en-US" dirty="0"/>
              <a:t>Borce, Ron Ken S.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821" y="2766218"/>
            <a:ext cx="5190358" cy="1325563"/>
          </a:xfrm>
        </p:spPr>
        <p:txBody>
          <a:bodyPr>
            <a:noAutofit/>
          </a:bodyPr>
          <a:lstStyle/>
          <a:p>
            <a:r>
              <a:rPr lang="en-US" sz="5000" dirty="0"/>
              <a:t>Introduction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98DD7-94D6-6189-70C1-DB3F843E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DD9E-884E-8C17-10D3-3512CACF9D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560108"/>
            <a:ext cx="5190358" cy="1325563"/>
          </a:xfrm>
        </p:spPr>
        <p:txBody>
          <a:bodyPr>
            <a:noAutofit/>
          </a:bodyPr>
          <a:lstStyle/>
          <a:p>
            <a:r>
              <a:rPr lang="en-US" sz="5000" dirty="0"/>
              <a:t>Concept &amp; definition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00E03-5BC0-1FD3-4411-D6DB4CAC273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049556"/>
            <a:ext cx="4202806" cy="3003457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Linear Regression predicts a continuous value by fitting a straight line between input(s) and output.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0AFC308-1592-8669-A58E-793A6E3E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80A0D-89C3-3CE1-5D4F-E5D9468A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E70D1-948F-049C-12E6-91126428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655697" y="2049556"/>
            <a:ext cx="4202806" cy="30034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/>
              <a:t> a method used to model the relationship between two variables by fitting a straight line through data points to make predictions.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80297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995D-25C5-BC72-37C2-246AD6377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E8D7D40-B1C9-36D9-6205-9F559D946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209" y="1998595"/>
            <a:ext cx="7758695" cy="43577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E72EA1-3ACC-2236-954A-058D0DA223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560108"/>
            <a:ext cx="5190358" cy="1325563"/>
          </a:xfrm>
        </p:spPr>
        <p:txBody>
          <a:bodyPr>
            <a:noAutofit/>
          </a:bodyPr>
          <a:lstStyle/>
          <a:p>
            <a:r>
              <a:rPr lang="en-US" sz="5000" dirty="0"/>
              <a:t>How it works?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1847B-00A2-5167-8DE1-CED87DB4C7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049556"/>
            <a:ext cx="1536310" cy="63737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Diagram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09791C-F004-4991-C60B-77A1E414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26411-E34F-4AA6-DB7C-86FFD4F22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3EC23-5366-F22C-5BA9-E3A1B2F0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1EDA487-C3AD-6EE1-6FC5-CDA1336CD8A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755701" y="5156171"/>
            <a:ext cx="768155" cy="5834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20 Grams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C9B3F9D-1BF8-6A1F-F6AD-F1AF6EF413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281391" y="5156169"/>
            <a:ext cx="848735" cy="5834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40 Grams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1B33E74-E42C-3C6E-3EED-54645FFB33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768148" y="4469195"/>
            <a:ext cx="768155" cy="583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/>
              <a:t>500</a:t>
            </a:r>
          </a:p>
          <a:p>
            <a:pPr algn="ctr"/>
            <a:r>
              <a:rPr lang="en-US" sz="1500" dirty="0"/>
              <a:t>Pesos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6A47ED6-8E16-64A5-A9BC-A5718E8B6B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768147" y="3594025"/>
            <a:ext cx="768155" cy="5834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1000 Pesos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1CC6C0FF-5429-942C-4C03-425C25B046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768147" y="2718854"/>
            <a:ext cx="768155" cy="5834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1500 Pesos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90D717A-6A47-A2C2-C01C-BE7AAF340F14}"/>
              </a:ext>
            </a:extLst>
          </p:cNvPr>
          <p:cNvSpPr/>
          <p:nvPr/>
        </p:nvSpPr>
        <p:spPr>
          <a:xfrm>
            <a:off x="6015096" y="4634672"/>
            <a:ext cx="249364" cy="2524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FB39E5-3D76-DFDE-8655-36954B646D04}"/>
              </a:ext>
            </a:extLst>
          </p:cNvPr>
          <p:cNvSpPr/>
          <p:nvPr/>
        </p:nvSpPr>
        <p:spPr>
          <a:xfrm>
            <a:off x="7538874" y="3714233"/>
            <a:ext cx="249364" cy="2524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66512E1-FCEB-3507-3B5D-6D1EAC7C9A31}"/>
              </a:ext>
            </a:extLst>
          </p:cNvPr>
          <p:cNvSpPr/>
          <p:nvPr/>
        </p:nvSpPr>
        <p:spPr>
          <a:xfrm>
            <a:off x="9082594" y="2754564"/>
            <a:ext cx="249364" cy="2524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2AA1CB82-F8EB-EEA6-0F5F-FD2875A0A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8782908" y="5156169"/>
            <a:ext cx="848735" cy="5834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/>
              <a:t>60 Grams</a:t>
            </a:r>
          </a:p>
        </p:txBody>
      </p:sp>
    </p:spTree>
    <p:extLst>
      <p:ext uri="{BB962C8B-B14F-4D97-AF65-F5344CB8AC3E}">
        <p14:creationId xmlns:p14="http://schemas.microsoft.com/office/powerpoint/2010/main" val="1701525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22CF-75AC-81D8-F3C2-E70E6A93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2E4C-B916-D0FF-7AEB-9AB9D7B81D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8" y="560108"/>
            <a:ext cx="8612359" cy="1325563"/>
          </a:xfrm>
        </p:spPr>
        <p:txBody>
          <a:bodyPr>
            <a:noAutofit/>
          </a:bodyPr>
          <a:lstStyle/>
          <a:p>
            <a:r>
              <a:rPr lang="en-US" sz="5000" dirty="0"/>
              <a:t>Real-world application &amp;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10117-5B46-0E42-C741-C97A6B8599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035488"/>
            <a:ext cx="6023904" cy="2936841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Predicting house prices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/>
              <a:t>Salary vs. experience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PH" sz="3200" dirty="0"/>
              <a:t>Red wine quality predictor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E6FF54-0F81-5019-0F98-D31FE2D454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660AE-D4D7-E58E-ED6A-FA125F16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3C1C3-AAF4-CD24-8B48-FB96CF47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70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A1D56-7371-CB6D-789C-B5DDEB661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7323" y="1812822"/>
            <a:ext cx="7277349" cy="1122202"/>
          </a:xfrm>
        </p:spPr>
        <p:txBody>
          <a:bodyPr/>
          <a:lstStyle/>
          <a:p>
            <a:pPr algn="ctr"/>
            <a:r>
              <a:rPr lang="en-PH" sz="5400" dirty="0"/>
              <a:t>Coding implementation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0EF3A6-01CD-8D7E-2736-5DBA8D4E2115}"/>
              </a:ext>
            </a:extLst>
          </p:cNvPr>
          <p:cNvSpPr txBox="1">
            <a:spLocks/>
          </p:cNvSpPr>
          <p:nvPr/>
        </p:nvSpPr>
        <p:spPr>
          <a:xfrm>
            <a:off x="3625113" y="3429000"/>
            <a:ext cx="4941771" cy="11222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PH" dirty="0"/>
              <a:t>Study hours &amp; exam score</a:t>
            </a:r>
          </a:p>
        </p:txBody>
      </p:sp>
    </p:spTree>
    <p:extLst>
      <p:ext uri="{BB962C8B-B14F-4D97-AF65-F5344CB8AC3E}">
        <p14:creationId xmlns:p14="http://schemas.microsoft.com/office/powerpoint/2010/main" val="999801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DB1F-FC18-EC74-D094-45456E33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11F2-5EC3-CF48-91EF-202EA26DB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78" y="633046"/>
            <a:ext cx="7880840" cy="829042"/>
          </a:xfrm>
        </p:spPr>
        <p:txBody>
          <a:bodyPr>
            <a:noAutofit/>
          </a:bodyPr>
          <a:lstStyle/>
          <a:p>
            <a:r>
              <a:rPr lang="en-US" sz="5000" dirty="0"/>
              <a:t>Research trends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1C4152-D75E-732C-4E64-7A1F7DC16F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077" y="1759062"/>
            <a:ext cx="10342686" cy="4822512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“Healthcare Predictive Analytics using Machine Learning”</a:t>
            </a:r>
          </a:p>
          <a:p>
            <a:pPr algn="just"/>
            <a:r>
              <a:rPr lang="en-US" sz="2000" dirty="0"/>
              <a:t>This paper explores how linear regression, alongside other machine learning models, is used to predict healthcare outcomes such as disease risk, treatment effectiveness, and hospital readmission rates.</a:t>
            </a:r>
          </a:p>
          <a:p>
            <a:pPr algn="just"/>
            <a:r>
              <a:rPr lang="en-US" sz="2000" b="1" dirty="0"/>
              <a:t>Highlights</a:t>
            </a:r>
            <a:r>
              <a:rPr lang="en-US" sz="2000" dirty="0"/>
              <a:t>:</a:t>
            </a:r>
          </a:p>
          <a:p>
            <a:pPr algn="just"/>
            <a:r>
              <a:rPr lang="en-US" sz="2000" b="1" dirty="0"/>
              <a:t>Linear regression</a:t>
            </a:r>
            <a:r>
              <a:rPr lang="en-US" sz="2000" dirty="0"/>
              <a:t> is used for modeling relationships between patient features (age, symptoms, lab results) and outcomes (e.g., diabetes risk).</a:t>
            </a:r>
          </a:p>
          <a:p>
            <a:pPr algn="just"/>
            <a:r>
              <a:rPr lang="en-US" sz="2000" dirty="0"/>
              <a:t>Compared with other models like decision trees and neural networks, linear regression offers </a:t>
            </a:r>
            <a:r>
              <a:rPr lang="en-US" sz="2000" b="1" dirty="0"/>
              <a:t>interpretability</a:t>
            </a:r>
            <a:r>
              <a:rPr lang="en-US" sz="2000" dirty="0"/>
              <a:t> and </a:t>
            </a:r>
            <a:r>
              <a:rPr lang="en-US" sz="2000" b="1" dirty="0"/>
              <a:t>low computational cost</a:t>
            </a:r>
            <a:r>
              <a:rPr lang="en-US" sz="2000" dirty="0"/>
              <a:t>.</a:t>
            </a:r>
          </a:p>
          <a:p>
            <a:pPr algn="just"/>
            <a:r>
              <a:rPr lang="en-US" sz="2000" dirty="0"/>
              <a:t>The study emphasizes </a:t>
            </a:r>
            <a:r>
              <a:rPr lang="en-US" sz="2000" b="1" dirty="0"/>
              <a:t>data preprocessing</a:t>
            </a:r>
            <a:r>
              <a:rPr lang="en-US" sz="2000" dirty="0"/>
              <a:t> (normalization, feature selection) as critical for improving prediction accuracy.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4B45A7D-15F3-23BE-7D2B-02601C76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C9F9B-DAB3-003A-D683-901C162B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29493-2DEE-B236-4144-5D4C0165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064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3F5EC-63D4-3460-274C-BF0A3DB9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E24D-5CC7-BDCC-E966-F82DAC6940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560108"/>
            <a:ext cx="7022710" cy="1325563"/>
          </a:xfrm>
        </p:spPr>
        <p:txBody>
          <a:bodyPr>
            <a:noAutofit/>
          </a:bodyPr>
          <a:lstStyle/>
          <a:p>
            <a:r>
              <a:rPr lang="en-US" sz="5000" dirty="0"/>
              <a:t>Reflection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761D9-DB99-94A6-B2A2-9DC2D1F8CF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8" y="2049556"/>
            <a:ext cx="9518277" cy="300345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Linear regression remains one of the most powerful and accessible tools in data science, statistics, and everyday decision-making. In today’s world, where data drives industries, policies, and personal choices, understanding how variables relate is essential.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6A64EC0-C6EE-5CE9-AFF1-E417E059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2E79E-7796-551F-1000-E228D103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0F038-969A-1435-FBF9-F3FA19E91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022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4E4A-94A7-FCD3-E84D-CD54FC4CB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5740" y="1012872"/>
            <a:ext cx="2957732" cy="548641"/>
          </a:xfrm>
        </p:spPr>
        <p:txBody>
          <a:bodyPr/>
          <a:lstStyle/>
          <a:p>
            <a:r>
              <a:rPr lang="en-PH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1C7155-54E7-1E37-6B3C-253953C3B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5740" y="2009170"/>
            <a:ext cx="9466384" cy="3364687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https://mljourney.com/linear-regression-real-life-examples/</a:t>
            </a:r>
            <a:endParaRPr lang="en-US" sz="2800" dirty="0">
              <a:solidFill>
                <a:srgbClr val="0070C0"/>
              </a:solidFill>
            </a:endParaRPr>
          </a:p>
          <a:p>
            <a:pPr algn="just"/>
            <a:r>
              <a:rPr lang="en-PH" sz="28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https://www.statisticalaid.com/linear-regression/#google_vignette</a:t>
            </a:r>
            <a:endParaRPr lang="en-PH" sz="2800" dirty="0">
              <a:solidFill>
                <a:srgbClr val="0070C0"/>
              </a:solidFill>
            </a:endParaRPr>
          </a:p>
          <a:p>
            <a:pPr algn="just"/>
            <a:r>
              <a:rPr lang="en-PH" sz="2800" u="sng" dirty="0">
                <a:solidFill>
                  <a:srgbClr val="0070C0"/>
                </a:solidFill>
                <a:hlinkClick r:id="rId4"/>
              </a:rPr>
              <a:t>https://researchmate.net/linear-regression/</a:t>
            </a:r>
            <a:endParaRPr lang="en-PH" sz="2800" u="sng" dirty="0">
              <a:solidFill>
                <a:srgbClr val="0070C0"/>
              </a:solidFill>
            </a:endParaRPr>
          </a:p>
          <a:p>
            <a:pPr algn="just"/>
            <a:r>
              <a:rPr lang="en-PH" sz="2800" u="sng" dirty="0">
                <a:solidFill>
                  <a:srgbClr val="0070C0"/>
                </a:solidFill>
              </a:rPr>
              <a:t>https://wbuhs.ac.in/wp-content/uploads/2020/10/7.-Original-Article-Shahnewaz.pdf</a:t>
            </a:r>
          </a:p>
        </p:txBody>
      </p:sp>
    </p:spTree>
    <p:extLst>
      <p:ext uri="{BB962C8B-B14F-4D97-AF65-F5344CB8AC3E}">
        <p14:creationId xmlns:p14="http://schemas.microsoft.com/office/powerpoint/2010/main" val="91968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B650374-48F7-934C-747E-7B58B2C0A5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469</TotalTime>
  <Words>324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Tenorite</vt:lpstr>
      <vt:lpstr>Monoline</vt:lpstr>
      <vt:lpstr>Linear regression</vt:lpstr>
      <vt:lpstr>Introduction</vt:lpstr>
      <vt:lpstr>Concept &amp; definition</vt:lpstr>
      <vt:lpstr>How it works?</vt:lpstr>
      <vt:lpstr>Real-world application &amp; Implementation</vt:lpstr>
      <vt:lpstr>Coding implementation</vt:lpstr>
      <vt:lpstr>Research trends</vt:lpstr>
      <vt:lpstr>Reflection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 Ken Borce</dc:creator>
  <cp:lastModifiedBy>Ron Ken Borce</cp:lastModifiedBy>
  <cp:revision>2</cp:revision>
  <dcterms:created xsi:type="dcterms:W3CDTF">2025-10-05T11:38:22Z</dcterms:created>
  <dcterms:modified xsi:type="dcterms:W3CDTF">2025-10-06T03:57:14Z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